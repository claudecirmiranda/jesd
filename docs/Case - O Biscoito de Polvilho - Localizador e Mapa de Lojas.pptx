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5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143000"/>
            <a:ext cx="3108960" cy="17097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063240"/>
            <a:ext cx="9997135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Como Tecnologia Aproxima uma</a:t>
            </a:r>
            <a:endParaRPr lang="en-US" sz="32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Marca Artesanal do Cliente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097280" y="4617720"/>
            <a:ext cx="9997135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Case: Localizador de Lojas + Mapa Interativo · O Biscoito de Polvilho®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97280" y="6263640"/>
            <a:ext cx="9997135" cy="365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D9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 Claudecir Miranda   ·   soaone.com.br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0200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O Desafio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603504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Biscoito de Polvilho® é uma marca artesanal mineira, com produção própria e presença em dezenas de pontos de venda pela Grande BH.</a:t>
            </a:r>
            <a:endParaRPr lang="en-US" sz="17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 um jeito rápido de descobrir qual loja fica mais perto, o cliente esbarra em atrito antes mesmo de decidir comprar — e a marca perde a chance de conversão na hora certa.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223760" y="1965960"/>
            <a:ext cx="4297680" cy="3017520"/>
          </a:xfrm>
          <a:prstGeom prst="roundRect">
            <a:avLst>
              <a:gd name="adj" fmla="val 5455"/>
            </a:avLst>
          </a:prstGeom>
          <a:solidFill>
            <a:srgbClr val="EB6209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pic>
        <p:nvPicPr>
          <p:cNvPr id="5" name="Image 0" descr="assets/icons/store-bran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377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320040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34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589520" y="4297680"/>
            <a:ext cx="3566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pontos de venda espalhados pela região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0200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Do Briefing à Fidelidade de Marca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projeto começou com um briefing estruturado do cliente — não com uma tela em branco.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QUE O CLIENTE FORNECEU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94360" cy="59436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6" name="Image 0" descr="assets/icons/palette-bran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77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945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Guia da Marca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253288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Paleta de cores oficial, tipografia, margens de segurança e variações de aplicação da logo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594360" cy="59436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10" name="Image 1" descr="assets/icons/filealt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7947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6118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Documento Institucional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71600" y="395020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Missão, visão, diferenciais do produto e posicionamento de marca</a:t>
            </a:r>
            <a:endParaRPr lang="en-US" sz="1150" dirty="0"/>
          </a:p>
        </p:txBody>
      </p:sp>
      <p:pic>
        <p:nvPicPr>
          <p:cNvPr id="13" name="Image 2" descr="assets/icons/quote-laran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2120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512064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70200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“Tradição não se perde, se reinventa.”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564184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posicionamento de marca do cliente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537960" y="178308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FBF4EE"/>
          </a:solidFill>
          <a:ln w="12700">
            <a:solidFill>
              <a:srgbClr val="E5D9CC"/>
            </a:solidFill>
            <a:prstDash val="solid"/>
          </a:ln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903720" y="210312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COMO FOI APLICADO NO SITE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903720" y="2560320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Paleta de cores — 100% fiel ao guia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03720" y="29260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70200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03720" y="388620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Marrom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03720" y="414223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#70200F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366760" y="29260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EB6209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366760" y="388620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Laranja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366760" y="414223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#EB6209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829800" y="292608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9DB9E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829800" y="388620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9829800" y="4142232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#F9DB9E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903720" y="4663440"/>
            <a:ext cx="4297680" cy="0"/>
          </a:xfrm>
          <a:prstGeom prst="line">
            <a:avLst/>
          </a:prstGeom>
          <a:noFill/>
          <a:ln w="12700">
            <a:solidFill>
              <a:srgbClr val="E5D9CC"/>
            </a:solidFill>
            <a:prstDash val="solid"/>
          </a:ln>
        </p:spPr>
      </p:sp>
      <p:pic>
        <p:nvPicPr>
          <p:cNvPr id="29" name="Image 3" descr="assets/icons/font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89204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06640" y="489204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Barriecito</a:t>
            </a:r>
            <a:r>
              <a:rPr lang="en-US" sz="12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(títulos)     </a:t>
            </a:r>
            <a:r>
              <a:rPr lang="en-US" sz="12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Rubik</a:t>
            </a:r>
            <a:r>
              <a:rPr lang="en-US" sz="12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(textos)</a:t>
            </a:r>
            <a:endParaRPr lang="en-US" sz="1250" dirty="0"/>
          </a:p>
        </p:txBody>
      </p:sp>
      <p:pic>
        <p:nvPicPr>
          <p:cNvPr id="31" name="Image 4" descr="assets/icons/check-laranj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54864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60920" y="54406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Mesma paleta, tipografia e tom de voz do guia — do site ao localizador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" y="141605"/>
            <a:ext cx="10663555" cy="6586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0200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Solução 1 · Encontre a Loja Mais Próxima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4" name="Image 0" descr="assets/icons/pin-bran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45920"/>
            <a:ext cx="5074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Cliente digita apenas o CEP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7" name="Image 1" descr="assets/icons/route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081528"/>
            <a:ext cx="374904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880360"/>
            <a:ext cx="5074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Sistema calcula a distância real de carro — não linha reta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40080" y="4160520"/>
            <a:ext cx="685800" cy="68580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10" name="Image 2" descr="assets/icons/check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315968"/>
            <a:ext cx="374904" cy="3749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114800"/>
            <a:ext cx="5074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Mostra as 5 unidades mais próximas, com tempo estimado e rota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040880" y="1463040"/>
            <a:ext cx="4526280" cy="4846320"/>
          </a:xfrm>
          <a:prstGeom prst="roundRect">
            <a:avLst>
              <a:gd name="adj" fmla="val 3030"/>
            </a:avLst>
          </a:prstGeom>
          <a:solidFill>
            <a:srgbClr val="FBF4EE"/>
          </a:solidFill>
          <a:ln w="12700">
            <a:solidFill>
              <a:srgbClr val="E5D9CC"/>
            </a:solidFill>
            <a:prstDash val="solid"/>
          </a:ln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7360920" y="1783080"/>
            <a:ext cx="3886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Seu CEP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60920" y="2121408"/>
            <a:ext cx="3886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C8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543800" y="2121408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30575-232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10149840" y="212140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B6209"/>
          </a:solidFill>
        </p:spPr>
      </p:sp>
      <p:sp>
        <p:nvSpPr>
          <p:cNvPr id="17" name="Text 12"/>
          <p:cNvSpPr/>
          <p:nvPr/>
        </p:nvSpPr>
        <p:spPr>
          <a:xfrm>
            <a:off x="10149840" y="2121408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Buscar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60920" y="288036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43800" y="3063240"/>
            <a:ext cx="502920" cy="50292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20" name="Image 3" descr="assets/icons/store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318211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0" y="299008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Buritis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229600" y="331927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 km · 4 min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360920" y="393192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43800" y="4114800"/>
            <a:ext cx="502920" cy="50292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25" name="Image 4" descr="assets/icons/store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4233672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0" y="404164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Venda Nova II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8229600" y="437083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2.8 km · 7 min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7360920" y="498348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D9C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43800" y="5166360"/>
            <a:ext cx="502920" cy="50292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30" name="Image 5" descr="assets/icons/store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5285232"/>
            <a:ext cx="265176" cy="26517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9600" y="509320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Andradas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229600" y="5422392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4.1 km · 11 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Uma Decisão de Engenharia que Economiza Dinheiro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280160" y="1417320"/>
            <a:ext cx="9631375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dirty="0">
                <a:solidFill>
                  <a:srgbClr val="F5D9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 de geolocalização são cobradas por chamada. Cada busca poderia consultar as 34 lojas — em vez disso, o sistema filtra localmente antes de gastar com a API paga.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52348" y="274320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2448" y="3063240"/>
            <a:ext cx="731520" cy="73152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6" name="Image 0" descr="assets/icons/database-bran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040" y="3227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3788" y="3931920"/>
            <a:ext cx="21488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20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 lojas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89508" y="4343400"/>
            <a:ext cx="20574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banco de dados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84068" y="361188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04108" y="274320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4208" y="3063240"/>
            <a:ext cx="731520" cy="73152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12" name="Image 1" descr="assets/icons/calculator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32278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5548" y="3931920"/>
            <a:ext cx="21488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20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Filtro local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1268" y="4343400"/>
            <a:ext cx="20574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cálculo matemático, grátis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35828" y="361188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55868" y="274320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5968" y="3063240"/>
            <a:ext cx="731520" cy="73152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18" name="Image 2" descr="assets/icons/route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60" y="32278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7308" y="3931920"/>
            <a:ext cx="21488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20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candidatas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93028" y="4343400"/>
            <a:ext cx="20574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mais próximas em linha reta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587588" y="361188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B62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907628" y="2743200"/>
            <a:ext cx="23317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07728" y="3063240"/>
            <a:ext cx="731520" cy="73152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24" name="Image 3" descr="assets/icons/globe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2320" y="322783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99068" y="3931920"/>
            <a:ext cx="2148840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20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chamada paga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44788" y="4343400"/>
            <a:ext cx="205740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só nas 5 finalistas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97280" y="5440680"/>
            <a:ext cx="999713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B6209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De 34 chamadas possíveis por busca → apenas 1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0200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Solução 2 · Veja Todas as Lojas de Uma Vez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685800" cy="68580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4" name="Image 0" descr="assets/icons/map-bran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38528"/>
            <a:ext cx="374904" cy="3749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37360"/>
            <a:ext cx="5074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34 lojas visíveis juntas, num mapa interativo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40080" y="3063240"/>
            <a:ext cx="685800" cy="68580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7" name="Image 1" descr="assets/icons/pin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218688"/>
            <a:ext cx="374904" cy="3749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3017520"/>
            <a:ext cx="5074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Toque num pin e veja foto, endereço e rota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40080" y="4343400"/>
            <a:ext cx="685800" cy="685800"/>
          </a:xfrm>
          <a:prstGeom prst="ellipse">
            <a:avLst/>
          </a:prstGeom>
          <a:solidFill>
            <a:srgbClr val="70200F"/>
          </a:solidFill>
        </p:spPr>
      </p:sp>
      <p:pic>
        <p:nvPicPr>
          <p:cNvPr id="10" name="Image 2" descr="assets/icons/leaf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498848"/>
            <a:ext cx="374904" cy="3749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4297680"/>
            <a:ext cx="5074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Tecnologia 100% gratuita — OpenStreetMap, sem custo por acesso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040880" y="1463040"/>
            <a:ext cx="4526280" cy="4846320"/>
          </a:xfrm>
          <a:prstGeom prst="roundRect">
            <a:avLst>
              <a:gd name="adj" fmla="val 3030"/>
            </a:avLst>
          </a:prstGeom>
          <a:solidFill>
            <a:srgbClr val="DCE8DD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pic>
        <p:nvPicPr>
          <p:cNvPr id="13" name="Image 3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103120"/>
            <a:ext cx="274320" cy="274320"/>
          </a:xfrm>
          <a:prstGeom prst="rect">
            <a:avLst/>
          </a:prstGeom>
        </p:spPr>
      </p:pic>
      <p:pic>
        <p:nvPicPr>
          <p:cNvPr id="14" name="Image 4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2651760"/>
            <a:ext cx="274320" cy="274320"/>
          </a:xfrm>
          <a:prstGeom prst="rect">
            <a:avLst/>
          </a:prstGeom>
        </p:spPr>
      </p:pic>
      <p:pic>
        <p:nvPicPr>
          <p:cNvPr id="15" name="Image 5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286000"/>
            <a:ext cx="274320" cy="274320"/>
          </a:xfrm>
          <a:prstGeom prst="rect">
            <a:avLst/>
          </a:prstGeom>
        </p:spPr>
      </p:pic>
      <p:pic>
        <p:nvPicPr>
          <p:cNvPr id="16" name="Image 6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3017520"/>
            <a:ext cx="274320" cy="274320"/>
          </a:xfrm>
          <a:prstGeom prst="rect">
            <a:avLst/>
          </a:prstGeom>
        </p:spPr>
      </p:pic>
      <p:pic>
        <p:nvPicPr>
          <p:cNvPr id="17" name="Image 7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840480"/>
            <a:ext cx="274320" cy="274320"/>
          </a:xfrm>
          <a:prstGeom prst="rect">
            <a:avLst/>
          </a:prstGeom>
        </p:spPr>
      </p:pic>
      <p:pic>
        <p:nvPicPr>
          <p:cNvPr id="18" name="Image 8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114800"/>
            <a:ext cx="274320" cy="274320"/>
          </a:xfrm>
          <a:prstGeom prst="rect">
            <a:avLst/>
          </a:prstGeom>
        </p:spPr>
      </p:pic>
      <p:pic>
        <p:nvPicPr>
          <p:cNvPr id="19" name="Image 9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029200"/>
            <a:ext cx="274320" cy="274320"/>
          </a:xfrm>
          <a:prstGeom prst="rect">
            <a:avLst/>
          </a:prstGeom>
        </p:spPr>
      </p:pic>
      <p:pic>
        <p:nvPicPr>
          <p:cNvPr id="20" name="Image 10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754880"/>
            <a:ext cx="274320" cy="274320"/>
          </a:xfrm>
          <a:prstGeom prst="rect">
            <a:avLst/>
          </a:prstGeom>
        </p:spPr>
      </p:pic>
      <p:pic>
        <p:nvPicPr>
          <p:cNvPr id="21" name="Image 11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4572000"/>
            <a:ext cx="274320" cy="274320"/>
          </a:xfrm>
          <a:prstGeom prst="rect">
            <a:avLst/>
          </a:prstGeom>
        </p:spPr>
      </p:pic>
      <p:pic>
        <p:nvPicPr>
          <p:cNvPr id="22" name="Image 12" descr="assets/icons/pin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5669280"/>
            <a:ext cx="274320" cy="274320"/>
          </a:xfrm>
          <a:prstGeom prst="rect">
            <a:avLst/>
          </a:prstGeom>
        </p:spPr>
      </p:pic>
      <p:sp>
        <p:nvSpPr>
          <p:cNvPr id="23" name="Shape 8"/>
          <p:cNvSpPr/>
          <p:nvPr/>
        </p:nvSpPr>
        <p:spPr>
          <a:xfrm>
            <a:off x="8869680" y="28346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24" name="Shape 9"/>
          <p:cNvSpPr/>
          <p:nvPr/>
        </p:nvSpPr>
        <p:spPr>
          <a:xfrm>
            <a:off x="9052560" y="3017520"/>
            <a:ext cx="457200" cy="457200"/>
          </a:xfrm>
          <a:prstGeom prst="ellipse">
            <a:avLst/>
          </a:prstGeom>
          <a:solidFill>
            <a:srgbClr val="D9C8B8"/>
          </a:solidFill>
          <a:ln w="19050">
            <a:solidFill>
              <a:srgbClr val="EB6209"/>
            </a:solidFill>
            <a:prstDash val="solid"/>
          </a:ln>
        </p:spPr>
      </p:sp>
      <p:sp>
        <p:nvSpPr>
          <p:cNvPr id="25" name="Text 10"/>
          <p:cNvSpPr/>
          <p:nvPr/>
        </p:nvSpPr>
        <p:spPr>
          <a:xfrm>
            <a:off x="9646920" y="30175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Buritis</a:t>
            </a:r>
            <a:endParaRPr lang="en-US" sz="1250" dirty="0"/>
          </a:p>
        </p:txBody>
      </p:sp>
      <p:sp>
        <p:nvSpPr>
          <p:cNvPr id="26" name="Text 11"/>
          <p:cNvSpPr/>
          <p:nvPr/>
        </p:nvSpPr>
        <p:spPr>
          <a:xfrm>
            <a:off x="9052560" y="35204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R. Henrique Badaró Portugal, 410</a:t>
            </a:r>
            <a:endParaRPr lang="en-US" sz="950" dirty="0"/>
          </a:p>
        </p:txBody>
      </p:sp>
      <p:sp>
        <p:nvSpPr>
          <p:cNvPr id="27" name="Shape 12"/>
          <p:cNvSpPr/>
          <p:nvPr/>
        </p:nvSpPr>
        <p:spPr>
          <a:xfrm>
            <a:off x="9052560" y="38221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B6209"/>
          </a:solidFill>
        </p:spPr>
      </p:sp>
      <p:sp>
        <p:nvSpPr>
          <p:cNvPr id="28" name="Text 13"/>
          <p:cNvSpPr/>
          <p:nvPr/>
        </p:nvSpPr>
        <p:spPr>
          <a:xfrm>
            <a:off x="9052560" y="382219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Como chegar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0200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Por Trás da Experiência Simples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técnico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5168" y="2084832"/>
            <a:ext cx="640080" cy="64008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5" name="Image 0" descr="assets/icons/code-branc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22219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8128" y="193852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8128" y="242316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backend em JavaScript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24448" y="2084832"/>
            <a:ext cx="640080" cy="64008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9" name="Image 1" descr="assets/icons/database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222199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408" y="193852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47408" y="242316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Banco de dados leve e embarcado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5168" y="3822192"/>
            <a:ext cx="640080" cy="64008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13" name="Image 2" descr="assets/icons/globe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39593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78128" y="36758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Maps Platform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78128" y="416052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Geocoding e cálculo de rotas reais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24448" y="3822192"/>
            <a:ext cx="640080" cy="64008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17" name="Image 3" descr="assets/icons/leaf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395935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47408" y="36758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Leaflet + OpenStreetMap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147408" y="416052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Mapa interativo, custo zero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55168" y="5559552"/>
            <a:ext cx="640080" cy="64008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21" name="Image 4" descr="assets/icons/docker-br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28" y="569671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78128" y="541324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+ Traefik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78128" y="589788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containerizado, SSL automático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324448" y="5559552"/>
            <a:ext cx="640080" cy="640080"/>
          </a:xfrm>
          <a:prstGeom prst="ellipse">
            <a:avLst/>
          </a:prstGeom>
          <a:solidFill>
            <a:srgbClr val="EB6209"/>
          </a:solidFill>
        </p:spPr>
      </p:sp>
      <p:pic>
        <p:nvPicPr>
          <p:cNvPr id="25" name="Image 5" descr="assets/icons/bolt-br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608" y="569671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47408" y="541324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147408" y="589788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5B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 com deploy contínuo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1153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O Que Isso Trouxe na Prática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92328" y="169164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92328" y="187452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B6209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34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58088" y="2926080"/>
            <a:ext cx="4297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lojas mapeadas e buscáveis por CEP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70168" y="169164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70168" y="187452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B6209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R$0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735928" y="2926080"/>
            <a:ext cx="4297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 custo extra no mapa interativo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92328" y="425196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2328" y="443484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B6209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58088" y="5486400"/>
            <a:ext cx="4297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chamada paga à API por busca (não 34)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70168" y="425196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2B1D1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0168" y="443484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B6209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735928" y="5486400"/>
            <a:ext cx="42976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2B1D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responsivo — funciona bem no celular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0008" y="777240"/>
            <a:ext cx="2011680" cy="11063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148840"/>
            <a:ext cx="999713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anose="02050604050505020204" pitchFamily="34" charset="0"/>
                <a:ea typeface="Bookman Old Style" panose="02050604050505020204" pitchFamily="34" charset="-122"/>
                <a:cs typeface="Bookman Old Style" panose="02050604050505020204" pitchFamily="34" charset="-120"/>
              </a:rPr>
              <a:t>Quer Levar Sua Marca Mais Perto do Cliente?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463040" y="2971800"/>
            <a:ext cx="926561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D9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Desenvolvo soluções sob medida — do backend à experiência do usuário final.</a:t>
            </a:r>
            <a:endParaRPr lang="en-US" sz="1500" dirty="0"/>
          </a:p>
        </p:txBody>
      </p:sp>
      <p:pic>
        <p:nvPicPr>
          <p:cNvPr id="5" name="Image 1" descr="assets/icons/link-laran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208" y="39776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8408" y="393192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soaone.com.br</a:t>
            </a:r>
            <a:endParaRPr lang="en-US" sz="1450" dirty="0"/>
          </a:p>
        </p:txBody>
      </p:sp>
      <p:pic>
        <p:nvPicPr>
          <p:cNvPr id="7" name="Image 2" descr="assets/icons/whatsapp-laran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208" y="4544568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18408" y="449884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(31) 99555-1022</a:t>
            </a:r>
            <a:endParaRPr lang="en-US" sz="1450" dirty="0"/>
          </a:p>
        </p:txBody>
      </p:sp>
      <p:pic>
        <p:nvPicPr>
          <p:cNvPr id="9" name="Image 3" descr="assets/icons/globe-laranj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208" y="5111496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18408" y="5065776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obiscoito.com.br— veja funcionando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2727</Words>
  <Application>WPS Presentation</Application>
  <PresentationFormat>On-screen Show (16:9)</PresentationFormat>
  <Paragraphs>178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Bookman Old Style</vt:lpstr>
      <vt:lpstr>Bookman Old Style</vt:lpstr>
      <vt:lpstr>Bookman Old Style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google1586784266</cp:lastModifiedBy>
  <cp:revision>3</cp:revision>
  <dcterms:created xsi:type="dcterms:W3CDTF">2026-08-24T13:59:00Z</dcterms:created>
  <dcterms:modified xsi:type="dcterms:W3CDTF">2026-08-24T14:57:25Z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C4DC1365EB7C46499F72B45453192D43_12</vt:lpwstr>
  </property>
  <property fmtid="{D5CDD505-2E9C-101B-9397-08002B2CF9AE}" pid="3" name="KSOProductBuildVer">
    <vt:lpwstr>1046-12.1.0.28032</vt:lpwstr>
  </property>
</Properties>
</file>